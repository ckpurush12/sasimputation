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4" r:id="rId16"/>
    <p:sldId id="271" r:id="rId17"/>
    <p:sldId id="273" r:id="rId18"/>
    <p:sldId id="275" r:id="rId19"/>
    <p:sldId id="276"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862"/>
    <p:restoredTop sz="93602"/>
  </p:normalViewPr>
  <p:slideViewPr>
    <p:cSldViewPr snapToGrid="0">
      <p:cViewPr varScale="1">
        <p:scale>
          <a:sx n="65" d="100"/>
          <a:sy n="65" d="100"/>
        </p:scale>
        <p:origin x="55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9E6097-F5E6-9748-B4C6-CE3FBA8EC5D9}" type="datetimeFigureOut">
              <a:rPr lang="en-US" smtClean="0"/>
              <a:t>10/19/25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9887C-BEE4-F746-9C49-29D67F1CED11}" type="slidenum">
              <a:rPr lang="en-US" smtClean="0"/>
              <a:t>‹#›</a:t>
            </a:fld>
            <a:endParaRPr lang="en-US"/>
          </a:p>
        </p:txBody>
      </p:sp>
    </p:spTree>
    <p:extLst>
      <p:ext uri="{BB962C8B-B14F-4D97-AF65-F5344CB8AC3E}">
        <p14:creationId xmlns:p14="http://schemas.microsoft.com/office/powerpoint/2010/main" val="2442015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B9887C-BEE4-F746-9C49-29D67F1CED11}" type="slidenum">
              <a:rPr lang="en-US" smtClean="0"/>
              <a:t>13</a:t>
            </a:fld>
            <a:endParaRPr lang="en-US"/>
          </a:p>
        </p:txBody>
      </p:sp>
    </p:spTree>
    <p:extLst>
      <p:ext uri="{BB962C8B-B14F-4D97-AF65-F5344CB8AC3E}">
        <p14:creationId xmlns:p14="http://schemas.microsoft.com/office/powerpoint/2010/main" val="2987621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10/19/25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10/19/25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10/19/25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10/19/25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10/19/25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10/19/25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10/19/25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10/19/25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10/19/25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10/19/25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10/19/25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10/19/25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10/19/25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10/19/25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10/19/25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10/19/25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10/19/25</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10/19/25</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cumentation.sas.com/doc/en/egug/8.3/p078cl08fol7hkn11a8nf1f9izq7.htm" TargetMode="External"/><Relationship Id="rId2" Type="http://schemas.openxmlformats.org/officeDocument/2006/relationships/hyperlink" Target="https://www.youtube.com/watch?app=desktop&amp;v=sRmmht9nks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55F76-7812-4D1F-7E51-2C05C0DA1630}"/>
              </a:ext>
            </a:extLst>
          </p:cNvPr>
          <p:cNvSpPr>
            <a:spLocks noGrp="1"/>
          </p:cNvSpPr>
          <p:nvPr>
            <p:ph type="ctrTitle"/>
          </p:nvPr>
        </p:nvSpPr>
        <p:spPr/>
        <p:txBody>
          <a:bodyPr/>
          <a:lstStyle/>
          <a:p>
            <a:r>
              <a:rPr lang="en-US" dirty="0"/>
              <a:t>GIT HUB</a:t>
            </a:r>
          </a:p>
        </p:txBody>
      </p:sp>
      <p:sp>
        <p:nvSpPr>
          <p:cNvPr id="3" name="Subtitle 2">
            <a:extLst>
              <a:ext uri="{FF2B5EF4-FFF2-40B4-BE49-F238E27FC236}">
                <a16:creationId xmlns:a16="http://schemas.microsoft.com/office/drawing/2014/main" id="{FC8129DE-7D05-BA07-2E57-D5C5CC6D8C63}"/>
              </a:ext>
            </a:extLst>
          </p:cNvPr>
          <p:cNvSpPr>
            <a:spLocks noGrp="1"/>
          </p:cNvSpPr>
          <p:nvPr>
            <p:ph type="subTitle" idx="1"/>
          </p:nvPr>
        </p:nvSpPr>
        <p:spPr>
          <a:xfrm>
            <a:off x="0" y="4386648"/>
            <a:ext cx="9378778" cy="2051221"/>
          </a:xfrm>
        </p:spPr>
        <p:txBody>
          <a:bodyPr>
            <a:normAutofit/>
          </a:bodyPr>
          <a:lstStyle/>
          <a:p>
            <a:r>
              <a:rPr lang="en-US" dirty="0"/>
              <a:t>WHAT is GUTHUB?     </a:t>
            </a:r>
          </a:p>
          <a:p>
            <a:r>
              <a:rPr lang="en-US" dirty="0"/>
              <a:t>WHY we USE GITHUB?</a:t>
            </a:r>
          </a:p>
          <a:p>
            <a:r>
              <a:rPr lang="en-US" dirty="0"/>
              <a:t>WHEN we USE GITHUB?</a:t>
            </a:r>
          </a:p>
          <a:p>
            <a:r>
              <a:rPr lang="en-US" dirty="0"/>
              <a:t>HOW we USE GITHUN?</a:t>
            </a:r>
          </a:p>
        </p:txBody>
      </p:sp>
    </p:spTree>
    <p:extLst>
      <p:ext uri="{BB962C8B-B14F-4D97-AF65-F5344CB8AC3E}">
        <p14:creationId xmlns:p14="http://schemas.microsoft.com/office/powerpoint/2010/main" val="3594838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FB562-4A66-FA17-4B39-E907623ECBCD}"/>
              </a:ext>
            </a:extLst>
          </p:cNvPr>
          <p:cNvSpPr>
            <a:spLocks noGrp="1"/>
          </p:cNvSpPr>
          <p:nvPr>
            <p:ph type="title"/>
          </p:nvPr>
        </p:nvSpPr>
        <p:spPr/>
        <p:txBody>
          <a:bodyPr/>
          <a:lstStyle/>
          <a:p>
            <a:r>
              <a:rPr lang="en-US" dirty="0"/>
              <a:t>WHAT is GITHUB</a:t>
            </a:r>
          </a:p>
        </p:txBody>
      </p:sp>
      <p:sp>
        <p:nvSpPr>
          <p:cNvPr id="3" name="Content Placeholder 2">
            <a:extLst>
              <a:ext uri="{FF2B5EF4-FFF2-40B4-BE49-F238E27FC236}">
                <a16:creationId xmlns:a16="http://schemas.microsoft.com/office/drawing/2014/main" id="{51F70942-4AC8-4F71-A1E2-8C7F4B3B3978}"/>
              </a:ext>
            </a:extLst>
          </p:cNvPr>
          <p:cNvSpPr>
            <a:spLocks noGrp="1"/>
          </p:cNvSpPr>
          <p:nvPr>
            <p:ph idx="1"/>
          </p:nvPr>
        </p:nvSpPr>
        <p:spPr/>
        <p:txBody>
          <a:bodyPr/>
          <a:lstStyle/>
          <a:p>
            <a:r>
              <a:rPr lang="en-US" dirty="0"/>
              <a:t>It is a </a:t>
            </a:r>
            <a:r>
              <a:rPr lang="en-US" dirty="0" err="1"/>
              <a:t>webbased</a:t>
            </a:r>
            <a:r>
              <a:rPr lang="en-US" dirty="0"/>
              <a:t> platform built on Git version control systems that allows Developer ( we the </a:t>
            </a:r>
            <a:r>
              <a:rPr lang="en-US" dirty="0" err="1"/>
              <a:t>sas</a:t>
            </a:r>
            <a:r>
              <a:rPr lang="en-US" dirty="0"/>
              <a:t> programmer), to </a:t>
            </a:r>
            <a:r>
              <a:rPr lang="en-US" dirty="0" err="1"/>
              <a:t>store,manage,and</a:t>
            </a:r>
            <a:r>
              <a:rPr lang="en-US" dirty="0"/>
              <a:t> </a:t>
            </a:r>
            <a:r>
              <a:rPr lang="en-US" dirty="0" err="1"/>
              <a:t>collobarate</a:t>
            </a:r>
            <a:r>
              <a:rPr lang="en-US" dirty="0"/>
              <a:t> on code</a:t>
            </a:r>
          </a:p>
          <a:p>
            <a:r>
              <a:rPr lang="en-US" dirty="0"/>
              <a:t>From SAS point , SAS STUDIO has a separate section to connect our </a:t>
            </a:r>
            <a:r>
              <a:rPr lang="en-US" dirty="0" err="1"/>
              <a:t>sas</a:t>
            </a:r>
            <a:r>
              <a:rPr lang="en-US" dirty="0"/>
              <a:t> codes into this web based platform</a:t>
            </a:r>
          </a:p>
          <a:p>
            <a:r>
              <a:rPr lang="en-US" dirty="0"/>
              <a:t> Latest GIT version 2.51 for windows </a:t>
            </a:r>
          </a:p>
          <a:p>
            <a:r>
              <a:rPr lang="en-US" dirty="0" err="1"/>
              <a:t>Novorties</a:t>
            </a:r>
            <a:r>
              <a:rPr lang="en-US" dirty="0"/>
              <a:t> and Roche use this platform in a different manner but the same logic(RD KIT)</a:t>
            </a:r>
          </a:p>
          <a:p>
            <a:endParaRPr lang="en-US" dirty="0"/>
          </a:p>
        </p:txBody>
      </p:sp>
    </p:spTree>
    <p:extLst>
      <p:ext uri="{BB962C8B-B14F-4D97-AF65-F5344CB8AC3E}">
        <p14:creationId xmlns:p14="http://schemas.microsoft.com/office/powerpoint/2010/main" val="93023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8B657-00CF-0E02-576E-0A46438F857E}"/>
              </a:ext>
            </a:extLst>
          </p:cNvPr>
          <p:cNvSpPr>
            <a:spLocks noGrp="1"/>
          </p:cNvSpPr>
          <p:nvPr>
            <p:ph type="title"/>
          </p:nvPr>
        </p:nvSpPr>
        <p:spPr/>
        <p:txBody>
          <a:bodyPr/>
          <a:lstStyle/>
          <a:p>
            <a:r>
              <a:rPr lang="en-US" dirty="0"/>
              <a:t>WHY GITHUB</a:t>
            </a:r>
          </a:p>
        </p:txBody>
      </p:sp>
      <p:sp>
        <p:nvSpPr>
          <p:cNvPr id="3" name="Content Placeholder 2">
            <a:extLst>
              <a:ext uri="{FF2B5EF4-FFF2-40B4-BE49-F238E27FC236}">
                <a16:creationId xmlns:a16="http://schemas.microsoft.com/office/drawing/2014/main" id="{F7E7A4A8-DCEB-1CF9-9F1C-548429314F8B}"/>
              </a:ext>
            </a:extLst>
          </p:cNvPr>
          <p:cNvSpPr>
            <a:spLocks noGrp="1"/>
          </p:cNvSpPr>
          <p:nvPr>
            <p:ph idx="1"/>
          </p:nvPr>
        </p:nvSpPr>
        <p:spPr/>
        <p:txBody>
          <a:bodyPr/>
          <a:lstStyle/>
          <a:p>
            <a:r>
              <a:rPr lang="en-US" dirty="0"/>
              <a:t>We use Git hub for 2 main reason one is version control and other open sources  to contribute the projects current scenario R language codes are developed and shared across for easy implementation as per the CRO and Pharmaceutical clinical trials need </a:t>
            </a:r>
          </a:p>
          <a:p>
            <a:r>
              <a:rPr lang="en-US" dirty="0"/>
              <a:t>We has a programmer use this to get idea and draft copy of a code to start and develop as per our requirement</a:t>
            </a:r>
          </a:p>
          <a:p>
            <a:pPr marL="0" indent="0">
              <a:buNone/>
            </a:pPr>
            <a:endParaRPr lang="en-US" dirty="0"/>
          </a:p>
        </p:txBody>
      </p:sp>
    </p:spTree>
    <p:extLst>
      <p:ext uri="{BB962C8B-B14F-4D97-AF65-F5344CB8AC3E}">
        <p14:creationId xmlns:p14="http://schemas.microsoft.com/office/powerpoint/2010/main" val="211283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12FB9-690F-C984-29B4-E2B8D07F7BD9}"/>
              </a:ext>
            </a:extLst>
          </p:cNvPr>
          <p:cNvSpPr>
            <a:spLocks noGrp="1"/>
          </p:cNvSpPr>
          <p:nvPr>
            <p:ph type="title"/>
          </p:nvPr>
        </p:nvSpPr>
        <p:spPr/>
        <p:txBody>
          <a:bodyPr/>
          <a:lstStyle/>
          <a:p>
            <a:r>
              <a:rPr lang="en-US" dirty="0"/>
              <a:t>HOW to Implement</a:t>
            </a:r>
          </a:p>
        </p:txBody>
      </p:sp>
      <p:sp>
        <p:nvSpPr>
          <p:cNvPr id="3" name="Content Placeholder 2">
            <a:extLst>
              <a:ext uri="{FF2B5EF4-FFF2-40B4-BE49-F238E27FC236}">
                <a16:creationId xmlns:a16="http://schemas.microsoft.com/office/drawing/2014/main" id="{34F7C131-F4B9-B73E-E73B-B67EE52281E7}"/>
              </a:ext>
            </a:extLst>
          </p:cNvPr>
          <p:cNvSpPr>
            <a:spLocks noGrp="1"/>
          </p:cNvSpPr>
          <p:nvPr>
            <p:ph idx="1"/>
          </p:nvPr>
        </p:nvSpPr>
        <p:spPr/>
        <p:txBody>
          <a:bodyPr/>
          <a:lstStyle/>
          <a:p>
            <a:r>
              <a:rPr lang="en-US" dirty="0"/>
              <a:t>How to use GITHUB with SAS STUDIO </a:t>
            </a:r>
          </a:p>
          <a:p>
            <a:r>
              <a:rPr lang="en-US" dirty="0"/>
              <a:t>Create a GITHUB Profile using the link (</a:t>
            </a:r>
            <a:r>
              <a:rPr lang="en-US" dirty="0">
                <a:hlinkClick r:id="rId2"/>
              </a:rPr>
              <a:t>https://github.com/</a:t>
            </a:r>
            <a:r>
              <a:rPr lang="en-US" dirty="0"/>
              <a:t>) after creating an account you will have your dashboard </a:t>
            </a:r>
          </a:p>
          <a:p>
            <a:r>
              <a:rPr lang="en-US" dirty="0"/>
              <a:t>Then You create your own repositories(Fundamental element in which we can store and manage our code we can create multiple </a:t>
            </a:r>
            <a:r>
              <a:rPr lang="en-US" dirty="0" err="1"/>
              <a:t>respositories</a:t>
            </a:r>
            <a:r>
              <a:rPr lang="en-US" dirty="0"/>
              <a:t> has seen below) </a:t>
            </a:r>
          </a:p>
        </p:txBody>
      </p:sp>
    </p:spTree>
    <p:extLst>
      <p:ext uri="{BB962C8B-B14F-4D97-AF65-F5344CB8AC3E}">
        <p14:creationId xmlns:p14="http://schemas.microsoft.com/office/powerpoint/2010/main" val="3640074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E1B38-2022-3910-F1CB-F70952423798}"/>
              </a:ext>
            </a:extLst>
          </p:cNvPr>
          <p:cNvSpPr>
            <a:spLocks noGrp="1"/>
          </p:cNvSpPr>
          <p:nvPr>
            <p:ph type="title"/>
          </p:nvPr>
        </p:nvSpPr>
        <p:spPr/>
        <p:txBody>
          <a:bodyPr/>
          <a:lstStyle/>
          <a:p>
            <a:r>
              <a:rPr lang="en-US" dirty="0"/>
              <a:t>SAS STUDIO GIT REPOSITORY</a:t>
            </a:r>
          </a:p>
        </p:txBody>
      </p:sp>
      <p:pic>
        <p:nvPicPr>
          <p:cNvPr id="5" name="Content Placeholder 4" descr="A screenshot of a computer&#10;&#10;Description automatically generated">
            <a:extLst>
              <a:ext uri="{FF2B5EF4-FFF2-40B4-BE49-F238E27FC236}">
                <a16:creationId xmlns:a16="http://schemas.microsoft.com/office/drawing/2014/main" id="{5A3889AF-0483-B4F4-6F52-D2E41B5E61CC}"/>
              </a:ext>
            </a:extLst>
          </p:cNvPr>
          <p:cNvPicPr>
            <a:picLocks noGrp="1" noChangeAspect="1"/>
          </p:cNvPicPr>
          <p:nvPr>
            <p:ph idx="1"/>
          </p:nvPr>
        </p:nvPicPr>
        <p:blipFill>
          <a:blip r:embed="rId2"/>
          <a:stretch>
            <a:fillRect/>
          </a:stretch>
        </p:blipFill>
        <p:spPr>
          <a:xfrm>
            <a:off x="296089" y="2604811"/>
            <a:ext cx="8839851" cy="4154970"/>
          </a:xfrm>
        </p:spPr>
      </p:pic>
      <p:sp>
        <p:nvSpPr>
          <p:cNvPr id="3" name="TextBox 2">
            <a:extLst>
              <a:ext uri="{FF2B5EF4-FFF2-40B4-BE49-F238E27FC236}">
                <a16:creationId xmlns:a16="http://schemas.microsoft.com/office/drawing/2014/main" id="{BFDAAC7E-765D-4A13-3F4E-EBE0AB5B2105}"/>
              </a:ext>
            </a:extLst>
          </p:cNvPr>
          <p:cNvSpPr txBox="1"/>
          <p:nvPr/>
        </p:nvSpPr>
        <p:spPr>
          <a:xfrm>
            <a:off x="539931" y="1994264"/>
            <a:ext cx="7570573" cy="923330"/>
          </a:xfrm>
          <a:prstGeom prst="rect">
            <a:avLst/>
          </a:prstGeom>
          <a:noFill/>
        </p:spPr>
        <p:txBody>
          <a:bodyPr wrap="square" rtlCol="0">
            <a:spAutoFit/>
          </a:bodyPr>
          <a:lstStyle/>
          <a:p>
            <a:r>
              <a:rPr lang="en-US" dirty="0"/>
              <a:t>SAS Studio has Git Repository tab in which we can link our git profile:</a:t>
            </a:r>
          </a:p>
          <a:p>
            <a:r>
              <a:rPr lang="en-US" dirty="0"/>
              <a:t>SAS older version are not compact to add GIT REPOSITORY: </a:t>
            </a:r>
          </a:p>
          <a:p>
            <a:endParaRPr lang="en-US" dirty="0"/>
          </a:p>
        </p:txBody>
      </p:sp>
    </p:spTree>
    <p:extLst>
      <p:ext uri="{BB962C8B-B14F-4D97-AF65-F5344CB8AC3E}">
        <p14:creationId xmlns:p14="http://schemas.microsoft.com/office/powerpoint/2010/main" val="1140369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03A4-5DDB-F583-3A41-AD258E0E8DE9}"/>
              </a:ext>
            </a:extLst>
          </p:cNvPr>
          <p:cNvSpPr>
            <a:spLocks noGrp="1"/>
          </p:cNvSpPr>
          <p:nvPr>
            <p:ph type="title"/>
          </p:nvPr>
        </p:nvSpPr>
        <p:spPr/>
        <p:txBody>
          <a:bodyPr/>
          <a:lstStyle/>
          <a:p>
            <a:r>
              <a:rPr lang="en-US" dirty="0"/>
              <a:t>CREATION OF SSHKEY A BRIDGE FOR SAS AND GITHUB SITE</a:t>
            </a:r>
          </a:p>
        </p:txBody>
      </p:sp>
      <p:pic>
        <p:nvPicPr>
          <p:cNvPr id="5" name="Content Placeholder 4" descr="A screenshot of a computer&#10;&#10;Description automatically generated">
            <a:extLst>
              <a:ext uri="{FF2B5EF4-FFF2-40B4-BE49-F238E27FC236}">
                <a16:creationId xmlns:a16="http://schemas.microsoft.com/office/drawing/2014/main" id="{A1F61E84-256E-49A2-C6FA-204496CC2F10}"/>
              </a:ext>
            </a:extLst>
          </p:cNvPr>
          <p:cNvPicPr>
            <a:picLocks noGrp="1" noChangeAspect="1"/>
          </p:cNvPicPr>
          <p:nvPr>
            <p:ph idx="1"/>
          </p:nvPr>
        </p:nvPicPr>
        <p:blipFill>
          <a:blip r:embed="rId2"/>
          <a:stretch>
            <a:fillRect/>
          </a:stretch>
        </p:blipFill>
        <p:spPr>
          <a:xfrm>
            <a:off x="182879" y="2845457"/>
            <a:ext cx="8847909" cy="4195423"/>
          </a:xfrm>
        </p:spPr>
      </p:pic>
      <p:sp>
        <p:nvSpPr>
          <p:cNvPr id="3" name="TextBox 2">
            <a:extLst>
              <a:ext uri="{FF2B5EF4-FFF2-40B4-BE49-F238E27FC236}">
                <a16:creationId xmlns:a16="http://schemas.microsoft.com/office/drawing/2014/main" id="{ED223EC0-33E0-C3D2-D484-28FBB7F894CB}"/>
              </a:ext>
            </a:extLst>
          </p:cNvPr>
          <p:cNvSpPr txBox="1"/>
          <p:nvPr/>
        </p:nvSpPr>
        <p:spPr>
          <a:xfrm>
            <a:off x="583474" y="1959429"/>
            <a:ext cx="6803245" cy="1200329"/>
          </a:xfrm>
          <a:prstGeom prst="rect">
            <a:avLst/>
          </a:prstGeom>
          <a:noFill/>
        </p:spPr>
        <p:txBody>
          <a:bodyPr wrap="square" rtlCol="0">
            <a:spAutoFit/>
          </a:bodyPr>
          <a:lstStyle/>
          <a:p>
            <a:r>
              <a:rPr lang="en-US" dirty="0"/>
              <a:t>We should have a unique SSHKEY  to Create our Repository :</a:t>
            </a:r>
          </a:p>
          <a:p>
            <a:r>
              <a:rPr lang="en-US" dirty="0"/>
              <a:t>Details about how can be found in the link at end of this session:</a:t>
            </a:r>
          </a:p>
          <a:p>
            <a:endParaRPr lang="en-US" dirty="0"/>
          </a:p>
        </p:txBody>
      </p:sp>
    </p:spTree>
    <p:extLst>
      <p:ext uri="{BB962C8B-B14F-4D97-AF65-F5344CB8AC3E}">
        <p14:creationId xmlns:p14="http://schemas.microsoft.com/office/powerpoint/2010/main" val="3510285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AF933-466E-E71A-CE0B-A4D9909BDCC4}"/>
              </a:ext>
            </a:extLst>
          </p:cNvPr>
          <p:cNvSpPr>
            <a:spLocks noGrp="1"/>
          </p:cNvSpPr>
          <p:nvPr>
            <p:ph type="title"/>
          </p:nvPr>
        </p:nvSpPr>
        <p:spPr/>
        <p:txBody>
          <a:bodyPr/>
          <a:lstStyle/>
          <a:p>
            <a:r>
              <a:rPr lang="en-US" dirty="0"/>
              <a:t>Linking GITHUB REPOSITORY TO SAS STUDIO</a:t>
            </a:r>
          </a:p>
        </p:txBody>
      </p:sp>
      <p:pic>
        <p:nvPicPr>
          <p:cNvPr id="5" name="Content Placeholder 4" descr="A screenshot of a computer&#10;&#10;Description automatically generated">
            <a:extLst>
              <a:ext uri="{FF2B5EF4-FFF2-40B4-BE49-F238E27FC236}">
                <a16:creationId xmlns:a16="http://schemas.microsoft.com/office/drawing/2014/main" id="{C5E2282B-289A-3752-0F7B-5E9C9A68793E}"/>
              </a:ext>
            </a:extLst>
          </p:cNvPr>
          <p:cNvPicPr>
            <a:picLocks noGrp="1" noChangeAspect="1"/>
          </p:cNvPicPr>
          <p:nvPr>
            <p:ph idx="1"/>
          </p:nvPr>
        </p:nvPicPr>
        <p:blipFill>
          <a:blip r:embed="rId2"/>
          <a:stretch>
            <a:fillRect/>
          </a:stretch>
        </p:blipFill>
        <p:spPr>
          <a:xfrm>
            <a:off x="252548" y="2714771"/>
            <a:ext cx="8072846" cy="4038726"/>
          </a:xfrm>
        </p:spPr>
      </p:pic>
      <p:sp>
        <p:nvSpPr>
          <p:cNvPr id="3" name="TextBox 2">
            <a:extLst>
              <a:ext uri="{FF2B5EF4-FFF2-40B4-BE49-F238E27FC236}">
                <a16:creationId xmlns:a16="http://schemas.microsoft.com/office/drawing/2014/main" id="{87498795-1D99-8D12-CEDD-13DA305336DC}"/>
              </a:ext>
            </a:extLst>
          </p:cNvPr>
          <p:cNvSpPr txBox="1"/>
          <p:nvPr/>
        </p:nvSpPr>
        <p:spPr>
          <a:xfrm>
            <a:off x="404823" y="1985554"/>
            <a:ext cx="9613861" cy="646331"/>
          </a:xfrm>
          <a:prstGeom prst="rect">
            <a:avLst/>
          </a:prstGeom>
          <a:noFill/>
        </p:spPr>
        <p:txBody>
          <a:bodyPr wrap="square" rtlCol="0">
            <a:spAutoFit/>
          </a:bodyPr>
          <a:lstStyle/>
          <a:p>
            <a:r>
              <a:rPr lang="en-US" dirty="0"/>
              <a:t>We can link or Fork files as per our needs provided we know the URL or Fork access</a:t>
            </a:r>
          </a:p>
          <a:p>
            <a:r>
              <a:rPr lang="en-US" dirty="0"/>
              <a:t>(Example: SAS-VIYA-QUICK-START):</a:t>
            </a:r>
          </a:p>
        </p:txBody>
      </p:sp>
    </p:spTree>
    <p:extLst>
      <p:ext uri="{BB962C8B-B14F-4D97-AF65-F5344CB8AC3E}">
        <p14:creationId xmlns:p14="http://schemas.microsoft.com/office/powerpoint/2010/main" val="2111001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2E810-05B7-CCBE-7D0A-B9D199C0C6FD}"/>
              </a:ext>
            </a:extLst>
          </p:cNvPr>
          <p:cNvSpPr>
            <a:spLocks noGrp="1"/>
          </p:cNvSpPr>
          <p:nvPr>
            <p:ph type="title"/>
          </p:nvPr>
        </p:nvSpPr>
        <p:spPr/>
        <p:txBody>
          <a:bodyPr/>
          <a:lstStyle/>
          <a:p>
            <a:r>
              <a:rPr lang="en-US" dirty="0"/>
              <a:t>Connecting GITHUB TO SAS STUDIO</a:t>
            </a:r>
          </a:p>
        </p:txBody>
      </p:sp>
      <p:pic>
        <p:nvPicPr>
          <p:cNvPr id="5" name="Content Placeholder 4" descr="A screenshot of a computer&#10;&#10;Description automatically generated">
            <a:extLst>
              <a:ext uri="{FF2B5EF4-FFF2-40B4-BE49-F238E27FC236}">
                <a16:creationId xmlns:a16="http://schemas.microsoft.com/office/drawing/2014/main" id="{5CEC5E5B-C4CA-B3CD-7111-302BC2883C30}"/>
              </a:ext>
            </a:extLst>
          </p:cNvPr>
          <p:cNvPicPr>
            <a:picLocks noGrp="1" noChangeAspect="1"/>
          </p:cNvPicPr>
          <p:nvPr>
            <p:ph idx="1"/>
          </p:nvPr>
        </p:nvPicPr>
        <p:blipFill>
          <a:blip r:embed="rId2"/>
          <a:stretch>
            <a:fillRect/>
          </a:stretch>
        </p:blipFill>
        <p:spPr>
          <a:xfrm>
            <a:off x="0" y="2472987"/>
            <a:ext cx="10593977" cy="4385013"/>
          </a:xfrm>
        </p:spPr>
      </p:pic>
      <p:sp>
        <p:nvSpPr>
          <p:cNvPr id="3" name="TextBox 2">
            <a:extLst>
              <a:ext uri="{FF2B5EF4-FFF2-40B4-BE49-F238E27FC236}">
                <a16:creationId xmlns:a16="http://schemas.microsoft.com/office/drawing/2014/main" id="{D109BCCB-AAC8-B969-166B-9C55D3656715}"/>
              </a:ext>
            </a:extLst>
          </p:cNvPr>
          <p:cNvSpPr txBox="1"/>
          <p:nvPr/>
        </p:nvSpPr>
        <p:spPr>
          <a:xfrm>
            <a:off x="182881" y="1942011"/>
            <a:ext cx="9000022" cy="369332"/>
          </a:xfrm>
          <a:prstGeom prst="rect">
            <a:avLst/>
          </a:prstGeom>
          <a:noFill/>
        </p:spPr>
        <p:txBody>
          <a:bodyPr wrap="square" rtlCol="0">
            <a:spAutoFit/>
          </a:bodyPr>
          <a:lstStyle/>
          <a:p>
            <a:r>
              <a:rPr lang="en-US" dirty="0"/>
              <a:t>Using SSH Key for that particular Link or fork to connect to our </a:t>
            </a:r>
            <a:r>
              <a:rPr lang="en-US" dirty="0" err="1"/>
              <a:t>sas</a:t>
            </a:r>
            <a:r>
              <a:rPr lang="en-US" dirty="0"/>
              <a:t> studio profile:</a:t>
            </a:r>
          </a:p>
        </p:txBody>
      </p:sp>
    </p:spTree>
    <p:extLst>
      <p:ext uri="{BB962C8B-B14F-4D97-AF65-F5344CB8AC3E}">
        <p14:creationId xmlns:p14="http://schemas.microsoft.com/office/powerpoint/2010/main" val="2048321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03CFC-8C38-27BE-56C7-86E010D528E8}"/>
              </a:ext>
            </a:extLst>
          </p:cNvPr>
          <p:cNvSpPr>
            <a:spLocks noGrp="1"/>
          </p:cNvSpPr>
          <p:nvPr>
            <p:ph type="title"/>
          </p:nvPr>
        </p:nvSpPr>
        <p:spPr/>
        <p:txBody>
          <a:bodyPr/>
          <a:lstStyle/>
          <a:p>
            <a:r>
              <a:rPr lang="en-US" dirty="0"/>
              <a:t>CLONE  A REPOSITORY Meaning getting all </a:t>
            </a:r>
            <a:r>
              <a:rPr lang="en-US" dirty="0" err="1"/>
              <a:t>github</a:t>
            </a:r>
            <a:r>
              <a:rPr lang="en-US" dirty="0"/>
              <a:t> program to SAS STUDIO </a:t>
            </a:r>
          </a:p>
        </p:txBody>
      </p:sp>
      <p:pic>
        <p:nvPicPr>
          <p:cNvPr id="5" name="Content Placeholder 4" descr="A screenshot of a computer&#10;&#10;Description automatically generated">
            <a:extLst>
              <a:ext uri="{FF2B5EF4-FFF2-40B4-BE49-F238E27FC236}">
                <a16:creationId xmlns:a16="http://schemas.microsoft.com/office/drawing/2014/main" id="{2B836E86-1793-6638-9E71-072E6641CC81}"/>
              </a:ext>
            </a:extLst>
          </p:cNvPr>
          <p:cNvPicPr>
            <a:picLocks noGrp="1" noChangeAspect="1"/>
          </p:cNvPicPr>
          <p:nvPr>
            <p:ph idx="1"/>
          </p:nvPr>
        </p:nvPicPr>
        <p:blipFill>
          <a:blip r:embed="rId2"/>
          <a:stretch>
            <a:fillRect/>
          </a:stretch>
        </p:blipFill>
        <p:spPr>
          <a:xfrm>
            <a:off x="0" y="3259137"/>
            <a:ext cx="8006740" cy="3598863"/>
          </a:xfrm>
        </p:spPr>
      </p:pic>
      <p:sp>
        <p:nvSpPr>
          <p:cNvPr id="3" name="TextBox 2">
            <a:extLst>
              <a:ext uri="{FF2B5EF4-FFF2-40B4-BE49-F238E27FC236}">
                <a16:creationId xmlns:a16="http://schemas.microsoft.com/office/drawing/2014/main" id="{2FA15D6F-FBCB-1216-CE6D-A003BBFA33B4}"/>
              </a:ext>
            </a:extLst>
          </p:cNvPr>
          <p:cNvSpPr txBox="1"/>
          <p:nvPr/>
        </p:nvSpPr>
        <p:spPr>
          <a:xfrm>
            <a:off x="226424" y="2090057"/>
            <a:ext cx="10317876" cy="646331"/>
          </a:xfrm>
          <a:prstGeom prst="rect">
            <a:avLst/>
          </a:prstGeom>
          <a:noFill/>
        </p:spPr>
        <p:txBody>
          <a:bodyPr wrap="square" rtlCol="0">
            <a:spAutoFit/>
          </a:bodyPr>
          <a:lstStyle/>
          <a:p>
            <a:r>
              <a:rPr lang="en-US" dirty="0"/>
              <a:t>Clone meaning taking a copy or replica of </a:t>
            </a:r>
            <a:r>
              <a:rPr lang="en-US" dirty="0" err="1"/>
              <a:t>files,data</a:t>
            </a:r>
            <a:r>
              <a:rPr lang="en-US" dirty="0"/>
              <a:t>, output </a:t>
            </a:r>
            <a:r>
              <a:rPr lang="en-US" dirty="0" err="1"/>
              <a:t>ect</a:t>
            </a:r>
            <a:r>
              <a:rPr lang="en-US" dirty="0"/>
              <a:t> from one source to another:</a:t>
            </a:r>
          </a:p>
          <a:p>
            <a:r>
              <a:rPr lang="en-US" dirty="0"/>
              <a:t>We can Clone has many Repository as we want provided we have access to the source:</a:t>
            </a:r>
          </a:p>
        </p:txBody>
      </p:sp>
    </p:spTree>
    <p:extLst>
      <p:ext uri="{BB962C8B-B14F-4D97-AF65-F5344CB8AC3E}">
        <p14:creationId xmlns:p14="http://schemas.microsoft.com/office/powerpoint/2010/main" val="1322906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57C85-AA93-660E-ADB3-C83E11A357FF}"/>
              </a:ext>
            </a:extLst>
          </p:cNvPr>
          <p:cNvSpPr>
            <a:spLocks noGrp="1"/>
          </p:cNvSpPr>
          <p:nvPr>
            <p:ph type="title"/>
          </p:nvPr>
        </p:nvSpPr>
        <p:spPr/>
        <p:txBody>
          <a:bodyPr/>
          <a:lstStyle/>
          <a:p>
            <a:r>
              <a:rPr lang="en-US" dirty="0"/>
              <a:t>CONTINUED</a:t>
            </a:r>
          </a:p>
        </p:txBody>
      </p:sp>
      <p:pic>
        <p:nvPicPr>
          <p:cNvPr id="5" name="Content Placeholder 4" descr="A screenshot of a computer&#10;&#10;Description automatically generated">
            <a:extLst>
              <a:ext uri="{FF2B5EF4-FFF2-40B4-BE49-F238E27FC236}">
                <a16:creationId xmlns:a16="http://schemas.microsoft.com/office/drawing/2014/main" id="{94905A5E-F0A4-B917-70EE-BC0FDA45B941}"/>
              </a:ext>
            </a:extLst>
          </p:cNvPr>
          <p:cNvPicPr>
            <a:picLocks noGrp="1" noChangeAspect="1"/>
          </p:cNvPicPr>
          <p:nvPr>
            <p:ph idx="1"/>
          </p:nvPr>
        </p:nvPicPr>
        <p:blipFill>
          <a:blip r:embed="rId2"/>
          <a:stretch>
            <a:fillRect/>
          </a:stretch>
        </p:blipFill>
        <p:spPr>
          <a:xfrm>
            <a:off x="168028" y="3129280"/>
            <a:ext cx="7226159" cy="3598863"/>
          </a:xfrm>
        </p:spPr>
      </p:pic>
      <p:sp>
        <p:nvSpPr>
          <p:cNvPr id="3" name="TextBox 2">
            <a:extLst>
              <a:ext uri="{FF2B5EF4-FFF2-40B4-BE49-F238E27FC236}">
                <a16:creationId xmlns:a16="http://schemas.microsoft.com/office/drawing/2014/main" id="{486FD5BE-00BC-7978-F447-E598BD67D148}"/>
              </a:ext>
            </a:extLst>
          </p:cNvPr>
          <p:cNvSpPr txBox="1"/>
          <p:nvPr/>
        </p:nvSpPr>
        <p:spPr>
          <a:xfrm>
            <a:off x="635726" y="2386149"/>
            <a:ext cx="9959778" cy="369332"/>
          </a:xfrm>
          <a:prstGeom prst="rect">
            <a:avLst/>
          </a:prstGeom>
          <a:noFill/>
        </p:spPr>
        <p:txBody>
          <a:bodyPr wrap="none" rtlCol="0">
            <a:spAutoFit/>
          </a:bodyPr>
          <a:lstStyle/>
          <a:p>
            <a:r>
              <a:rPr lang="en-US" dirty="0"/>
              <a:t>Set up of </a:t>
            </a:r>
            <a:r>
              <a:rPr lang="en-US" dirty="0" err="1"/>
              <a:t>colne</a:t>
            </a:r>
            <a:r>
              <a:rPr lang="en-US" dirty="0"/>
              <a:t> is continued below details are explained in the video file at end of this session:</a:t>
            </a:r>
          </a:p>
        </p:txBody>
      </p:sp>
    </p:spTree>
    <p:extLst>
      <p:ext uri="{BB962C8B-B14F-4D97-AF65-F5344CB8AC3E}">
        <p14:creationId xmlns:p14="http://schemas.microsoft.com/office/powerpoint/2010/main" val="26160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88C95-69C8-57A7-9BD0-BDCE5F7E18F8}"/>
              </a:ext>
            </a:extLst>
          </p:cNvPr>
          <p:cNvSpPr>
            <a:spLocks noGrp="1"/>
          </p:cNvSpPr>
          <p:nvPr>
            <p:ph type="title"/>
          </p:nvPr>
        </p:nvSpPr>
        <p:spPr/>
        <p:txBody>
          <a:bodyPr/>
          <a:lstStyle/>
          <a:p>
            <a:r>
              <a:rPr lang="en-US" dirty="0" err="1"/>
              <a:t>Github</a:t>
            </a:r>
            <a:r>
              <a:rPr lang="en-US" dirty="0"/>
              <a:t> repository (programs ) copied or </a:t>
            </a:r>
            <a:r>
              <a:rPr lang="en-US" dirty="0" err="1"/>
              <a:t>colned</a:t>
            </a:r>
            <a:r>
              <a:rPr lang="en-US" dirty="0"/>
              <a:t> over</a:t>
            </a:r>
          </a:p>
        </p:txBody>
      </p:sp>
      <p:pic>
        <p:nvPicPr>
          <p:cNvPr id="5" name="Content Placeholder 4" descr="A screenshot of a computer&#10;&#10;Description automatically generated">
            <a:extLst>
              <a:ext uri="{FF2B5EF4-FFF2-40B4-BE49-F238E27FC236}">
                <a16:creationId xmlns:a16="http://schemas.microsoft.com/office/drawing/2014/main" id="{BC3FF443-3968-B817-7368-B01E5944FECA}"/>
              </a:ext>
            </a:extLst>
          </p:cNvPr>
          <p:cNvPicPr>
            <a:picLocks noGrp="1" noChangeAspect="1"/>
          </p:cNvPicPr>
          <p:nvPr>
            <p:ph idx="1"/>
          </p:nvPr>
        </p:nvPicPr>
        <p:blipFill>
          <a:blip r:embed="rId2"/>
          <a:stretch>
            <a:fillRect/>
          </a:stretch>
        </p:blipFill>
        <p:spPr>
          <a:xfrm>
            <a:off x="191589" y="2874899"/>
            <a:ext cx="7648711" cy="3598863"/>
          </a:xfrm>
        </p:spPr>
      </p:pic>
      <p:sp>
        <p:nvSpPr>
          <p:cNvPr id="3" name="TextBox 2">
            <a:extLst>
              <a:ext uri="{FF2B5EF4-FFF2-40B4-BE49-F238E27FC236}">
                <a16:creationId xmlns:a16="http://schemas.microsoft.com/office/drawing/2014/main" id="{26444D31-278C-237E-C519-1B72370D7182}"/>
              </a:ext>
            </a:extLst>
          </p:cNvPr>
          <p:cNvSpPr txBox="1"/>
          <p:nvPr/>
        </p:nvSpPr>
        <p:spPr>
          <a:xfrm>
            <a:off x="191589" y="2081349"/>
            <a:ext cx="8662158" cy="369332"/>
          </a:xfrm>
          <a:prstGeom prst="rect">
            <a:avLst/>
          </a:prstGeom>
          <a:noFill/>
        </p:spPr>
        <p:txBody>
          <a:bodyPr wrap="square" rtlCol="0">
            <a:spAutoFit/>
          </a:bodyPr>
          <a:lstStyle/>
          <a:p>
            <a:r>
              <a:rPr lang="en-US" dirty="0"/>
              <a:t>Output of the </a:t>
            </a:r>
            <a:r>
              <a:rPr lang="en-US" dirty="0" err="1"/>
              <a:t>colned</a:t>
            </a:r>
            <a:r>
              <a:rPr lang="en-US" dirty="0"/>
              <a:t> session can be seen below which we use and modify:</a:t>
            </a:r>
          </a:p>
        </p:txBody>
      </p:sp>
    </p:spTree>
    <p:extLst>
      <p:ext uri="{BB962C8B-B14F-4D97-AF65-F5344CB8AC3E}">
        <p14:creationId xmlns:p14="http://schemas.microsoft.com/office/powerpoint/2010/main" val="3681562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344A3-1B6D-960B-0687-344121A75822}"/>
              </a:ext>
            </a:extLst>
          </p:cNvPr>
          <p:cNvSpPr>
            <a:spLocks noGrp="1"/>
          </p:cNvSpPr>
          <p:nvPr>
            <p:ph type="title"/>
          </p:nvPr>
        </p:nvSpPr>
        <p:spPr/>
        <p:txBody>
          <a:bodyPr/>
          <a:lstStyle/>
          <a:p>
            <a:r>
              <a:rPr lang="en-US" dirty="0"/>
              <a:t>PRINT.SAS PROGRAM IS BEEN UPDATED ON SAS STUDIO </a:t>
            </a:r>
          </a:p>
        </p:txBody>
      </p:sp>
      <p:pic>
        <p:nvPicPr>
          <p:cNvPr id="5" name="Content Placeholder 4" descr="A screenshot of a computer&#10;&#10;Description automatically generated">
            <a:extLst>
              <a:ext uri="{FF2B5EF4-FFF2-40B4-BE49-F238E27FC236}">
                <a16:creationId xmlns:a16="http://schemas.microsoft.com/office/drawing/2014/main" id="{8843FA9B-1C7F-0A58-2086-908E3AB7B448}"/>
              </a:ext>
            </a:extLst>
          </p:cNvPr>
          <p:cNvPicPr>
            <a:picLocks noGrp="1" noChangeAspect="1"/>
          </p:cNvPicPr>
          <p:nvPr>
            <p:ph idx="1"/>
          </p:nvPr>
        </p:nvPicPr>
        <p:blipFill>
          <a:blip r:embed="rId2"/>
          <a:stretch>
            <a:fillRect/>
          </a:stretch>
        </p:blipFill>
        <p:spPr>
          <a:xfrm>
            <a:off x="90441" y="3224403"/>
            <a:ext cx="7464751" cy="3598863"/>
          </a:xfrm>
        </p:spPr>
      </p:pic>
      <p:sp>
        <p:nvSpPr>
          <p:cNvPr id="3" name="TextBox 2">
            <a:extLst>
              <a:ext uri="{FF2B5EF4-FFF2-40B4-BE49-F238E27FC236}">
                <a16:creationId xmlns:a16="http://schemas.microsoft.com/office/drawing/2014/main" id="{AB2C2416-0E2B-4BA0-B2E2-1F13846F2AEA}"/>
              </a:ext>
            </a:extLst>
          </p:cNvPr>
          <p:cNvSpPr txBox="1"/>
          <p:nvPr/>
        </p:nvSpPr>
        <p:spPr>
          <a:xfrm>
            <a:off x="693019" y="2261937"/>
            <a:ext cx="8895127" cy="646331"/>
          </a:xfrm>
          <a:prstGeom prst="rect">
            <a:avLst/>
          </a:prstGeom>
          <a:noFill/>
        </p:spPr>
        <p:txBody>
          <a:bodyPr wrap="none" rtlCol="0">
            <a:spAutoFit/>
          </a:bodyPr>
          <a:lstStyle/>
          <a:p>
            <a:r>
              <a:rPr lang="en-US" dirty="0"/>
              <a:t> PRINT.SAS program initially we have </a:t>
            </a:r>
            <a:r>
              <a:rPr lang="en-US" dirty="0" err="1"/>
              <a:t>sashelp.HOMEEQUITY</a:t>
            </a:r>
            <a:r>
              <a:rPr lang="en-US" dirty="0"/>
              <a:t> dataset :</a:t>
            </a:r>
          </a:p>
          <a:p>
            <a:r>
              <a:rPr lang="en-US" dirty="0"/>
              <a:t> Keep= (Var1,Var2….) variables are the initially output requirement for this program:</a:t>
            </a:r>
          </a:p>
        </p:txBody>
      </p:sp>
    </p:spTree>
    <p:extLst>
      <p:ext uri="{BB962C8B-B14F-4D97-AF65-F5344CB8AC3E}">
        <p14:creationId xmlns:p14="http://schemas.microsoft.com/office/powerpoint/2010/main" val="3314725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2C534-2C90-31AF-B5C5-3F6B969F2B5A}"/>
              </a:ext>
            </a:extLst>
          </p:cNvPr>
          <p:cNvSpPr>
            <a:spLocks noGrp="1"/>
          </p:cNvSpPr>
          <p:nvPr>
            <p:ph type="title"/>
          </p:nvPr>
        </p:nvSpPr>
        <p:spPr/>
        <p:txBody>
          <a:bodyPr/>
          <a:lstStyle/>
          <a:p>
            <a:r>
              <a:rPr lang="en-US" dirty="0"/>
              <a:t>PRINT.SAS program updated on </a:t>
            </a:r>
            <a:r>
              <a:rPr lang="en-US" dirty="0" err="1"/>
              <a:t>sas</a:t>
            </a:r>
            <a:r>
              <a:rPr lang="en-US" dirty="0"/>
              <a:t> studio</a:t>
            </a:r>
          </a:p>
        </p:txBody>
      </p:sp>
      <p:sp>
        <p:nvSpPr>
          <p:cNvPr id="3" name="TextBox 2">
            <a:extLst>
              <a:ext uri="{FF2B5EF4-FFF2-40B4-BE49-F238E27FC236}">
                <a16:creationId xmlns:a16="http://schemas.microsoft.com/office/drawing/2014/main" id="{F8321F5A-6BAC-6A58-10F9-88C4320616AE}"/>
              </a:ext>
            </a:extLst>
          </p:cNvPr>
          <p:cNvSpPr txBox="1"/>
          <p:nvPr/>
        </p:nvSpPr>
        <p:spPr>
          <a:xfrm>
            <a:off x="567891" y="2338939"/>
            <a:ext cx="9621416" cy="369332"/>
          </a:xfrm>
          <a:prstGeom prst="rect">
            <a:avLst/>
          </a:prstGeom>
          <a:noFill/>
        </p:spPr>
        <p:txBody>
          <a:bodyPr wrap="none" rtlCol="0">
            <a:spAutoFit/>
          </a:bodyPr>
          <a:lstStyle/>
          <a:p>
            <a:r>
              <a:rPr lang="en-US" dirty="0"/>
              <a:t>Updates are made to SASHELP. And keep statement note there is no header in this program:</a:t>
            </a:r>
          </a:p>
        </p:txBody>
      </p:sp>
      <p:pic>
        <p:nvPicPr>
          <p:cNvPr id="8" name="Content Placeholder 7" descr="A screenshot of a computer&#10;&#10;Description automatically generated">
            <a:extLst>
              <a:ext uri="{FF2B5EF4-FFF2-40B4-BE49-F238E27FC236}">
                <a16:creationId xmlns:a16="http://schemas.microsoft.com/office/drawing/2014/main" id="{5F9A856D-5CB5-8BCB-AE51-58B2A976B9BC}"/>
              </a:ext>
            </a:extLst>
          </p:cNvPr>
          <p:cNvPicPr>
            <a:picLocks noGrp="1" noChangeAspect="1"/>
          </p:cNvPicPr>
          <p:nvPr>
            <p:ph idx="1"/>
          </p:nvPr>
        </p:nvPicPr>
        <p:blipFill>
          <a:blip r:embed="rId3"/>
          <a:stretch>
            <a:fillRect/>
          </a:stretch>
        </p:blipFill>
        <p:spPr>
          <a:xfrm>
            <a:off x="282445" y="2893391"/>
            <a:ext cx="9621416" cy="3598863"/>
          </a:xfrm>
        </p:spPr>
      </p:pic>
    </p:spTree>
    <p:extLst>
      <p:ext uri="{BB962C8B-B14F-4D97-AF65-F5344CB8AC3E}">
        <p14:creationId xmlns:p14="http://schemas.microsoft.com/office/powerpoint/2010/main" val="3314740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1CC7-1864-9AAE-6D60-3F90CD203B86}"/>
              </a:ext>
            </a:extLst>
          </p:cNvPr>
          <p:cNvSpPr>
            <a:spLocks noGrp="1"/>
          </p:cNvSpPr>
          <p:nvPr>
            <p:ph type="title"/>
          </p:nvPr>
        </p:nvSpPr>
        <p:spPr/>
        <p:txBody>
          <a:bodyPr/>
          <a:lstStyle/>
          <a:p>
            <a:r>
              <a:rPr lang="en-US" dirty="0"/>
              <a:t>COMMIT</a:t>
            </a:r>
          </a:p>
        </p:txBody>
      </p:sp>
      <p:pic>
        <p:nvPicPr>
          <p:cNvPr id="5" name="Content Placeholder 4" descr="A screenshot of a computer&#10;&#10;Description automatically generated">
            <a:extLst>
              <a:ext uri="{FF2B5EF4-FFF2-40B4-BE49-F238E27FC236}">
                <a16:creationId xmlns:a16="http://schemas.microsoft.com/office/drawing/2014/main" id="{3FB02E66-17E5-E771-6F25-CCA6A0BB5F16}"/>
              </a:ext>
            </a:extLst>
          </p:cNvPr>
          <p:cNvPicPr>
            <a:picLocks noGrp="1" noChangeAspect="1"/>
          </p:cNvPicPr>
          <p:nvPr>
            <p:ph idx="1"/>
          </p:nvPr>
        </p:nvPicPr>
        <p:blipFill>
          <a:blip r:embed="rId2"/>
          <a:stretch>
            <a:fillRect/>
          </a:stretch>
        </p:blipFill>
        <p:spPr>
          <a:xfrm>
            <a:off x="144379" y="3259137"/>
            <a:ext cx="7589602" cy="3598863"/>
          </a:xfrm>
        </p:spPr>
      </p:pic>
      <p:sp>
        <p:nvSpPr>
          <p:cNvPr id="3" name="TextBox 2">
            <a:extLst>
              <a:ext uri="{FF2B5EF4-FFF2-40B4-BE49-F238E27FC236}">
                <a16:creationId xmlns:a16="http://schemas.microsoft.com/office/drawing/2014/main" id="{D73F8D14-BF4E-A445-A833-1039318A0D2D}"/>
              </a:ext>
            </a:extLst>
          </p:cNvPr>
          <p:cNvSpPr txBox="1"/>
          <p:nvPr/>
        </p:nvSpPr>
        <p:spPr>
          <a:xfrm>
            <a:off x="731520" y="2310063"/>
            <a:ext cx="10395795" cy="923330"/>
          </a:xfrm>
          <a:prstGeom prst="rect">
            <a:avLst/>
          </a:prstGeom>
          <a:noFill/>
        </p:spPr>
        <p:txBody>
          <a:bodyPr wrap="none" rtlCol="0">
            <a:spAutoFit/>
          </a:bodyPr>
          <a:lstStyle/>
          <a:p>
            <a:r>
              <a:rPr lang="en-US" dirty="0"/>
              <a:t>After making the changes to the program once we commit the program , the file display as below:</a:t>
            </a:r>
          </a:p>
          <a:p>
            <a:r>
              <a:rPr lang="en-US" dirty="0"/>
              <a:t>RED highlighted shows the pervious steps in program: </a:t>
            </a:r>
          </a:p>
          <a:p>
            <a:r>
              <a:rPr lang="en-US" dirty="0"/>
              <a:t>Green highlighted shows the current steps added to program:</a:t>
            </a:r>
          </a:p>
        </p:txBody>
      </p:sp>
    </p:spTree>
    <p:extLst>
      <p:ext uri="{BB962C8B-B14F-4D97-AF65-F5344CB8AC3E}">
        <p14:creationId xmlns:p14="http://schemas.microsoft.com/office/powerpoint/2010/main" val="870603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8EF8B-A127-D624-E188-93C6B38F2ADE}"/>
              </a:ext>
            </a:extLst>
          </p:cNvPr>
          <p:cNvSpPr>
            <a:spLocks noGrp="1"/>
          </p:cNvSpPr>
          <p:nvPr>
            <p:ph type="title"/>
          </p:nvPr>
        </p:nvSpPr>
        <p:spPr/>
        <p:txBody>
          <a:bodyPr/>
          <a:lstStyle/>
          <a:p>
            <a:r>
              <a:rPr lang="en-US" dirty="0"/>
              <a:t>Continued:</a:t>
            </a:r>
          </a:p>
        </p:txBody>
      </p:sp>
      <p:sp>
        <p:nvSpPr>
          <p:cNvPr id="3" name="Content Placeholder 2">
            <a:extLst>
              <a:ext uri="{FF2B5EF4-FFF2-40B4-BE49-F238E27FC236}">
                <a16:creationId xmlns:a16="http://schemas.microsoft.com/office/drawing/2014/main" id="{B5AFB450-C25F-5499-59F9-6FD7798B0F5C}"/>
              </a:ext>
            </a:extLst>
          </p:cNvPr>
          <p:cNvSpPr>
            <a:spLocks noGrp="1"/>
          </p:cNvSpPr>
          <p:nvPr>
            <p:ph idx="1"/>
          </p:nvPr>
        </p:nvSpPr>
        <p:spPr/>
        <p:txBody>
          <a:bodyPr/>
          <a:lstStyle/>
          <a:p>
            <a:r>
              <a:rPr lang="en-US" dirty="0"/>
              <a:t>On GITHUB side we can see the changes made to the code and after commit, Refresh the </a:t>
            </a:r>
            <a:r>
              <a:rPr lang="en-US" dirty="0" err="1"/>
              <a:t>github</a:t>
            </a:r>
            <a:r>
              <a:rPr lang="en-US" dirty="0"/>
              <a:t> page to see the changes</a:t>
            </a:r>
          </a:p>
        </p:txBody>
      </p:sp>
      <p:pic>
        <p:nvPicPr>
          <p:cNvPr id="6" name="Picture 5" descr="A screenshot of a computer&#10;&#10;Description automatically generated">
            <a:extLst>
              <a:ext uri="{FF2B5EF4-FFF2-40B4-BE49-F238E27FC236}">
                <a16:creationId xmlns:a16="http://schemas.microsoft.com/office/drawing/2014/main" id="{2BA981D0-6B35-36E9-986C-DE743654D19B}"/>
              </a:ext>
            </a:extLst>
          </p:cNvPr>
          <p:cNvPicPr>
            <a:picLocks noChangeAspect="1"/>
          </p:cNvPicPr>
          <p:nvPr/>
        </p:nvPicPr>
        <p:blipFill>
          <a:blip r:embed="rId2"/>
          <a:stretch>
            <a:fillRect/>
          </a:stretch>
        </p:blipFill>
        <p:spPr>
          <a:xfrm>
            <a:off x="680320" y="3019758"/>
            <a:ext cx="9613861" cy="4044708"/>
          </a:xfrm>
          <a:prstGeom prst="rect">
            <a:avLst/>
          </a:prstGeom>
        </p:spPr>
      </p:pic>
    </p:spTree>
    <p:extLst>
      <p:ext uri="{BB962C8B-B14F-4D97-AF65-F5344CB8AC3E}">
        <p14:creationId xmlns:p14="http://schemas.microsoft.com/office/powerpoint/2010/main" val="3337235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071B5-2F14-1DCF-9083-C75EC8097CFB}"/>
              </a:ext>
            </a:extLst>
          </p:cNvPr>
          <p:cNvSpPr>
            <a:spLocks noGrp="1"/>
          </p:cNvSpPr>
          <p:nvPr>
            <p:ph type="title"/>
          </p:nvPr>
        </p:nvSpPr>
        <p:spPr/>
        <p:txBody>
          <a:bodyPr/>
          <a:lstStyle/>
          <a:p>
            <a:r>
              <a:rPr lang="en-US"/>
              <a:t>SEE THE CHANGES IN GIT HUB SINCE IT IS BRIDGED USING SSHKEY</a:t>
            </a:r>
          </a:p>
        </p:txBody>
      </p:sp>
      <p:pic>
        <p:nvPicPr>
          <p:cNvPr id="5" name="Content Placeholder 4" descr="A screenshot of a computer&#10;&#10;Description automatically generated">
            <a:extLst>
              <a:ext uri="{FF2B5EF4-FFF2-40B4-BE49-F238E27FC236}">
                <a16:creationId xmlns:a16="http://schemas.microsoft.com/office/drawing/2014/main" id="{8FEE6F0E-2B41-DD82-0B99-01003A575A55}"/>
              </a:ext>
            </a:extLst>
          </p:cNvPr>
          <p:cNvPicPr>
            <a:picLocks noGrp="1" noChangeAspect="1"/>
          </p:cNvPicPr>
          <p:nvPr>
            <p:ph idx="1"/>
          </p:nvPr>
        </p:nvPicPr>
        <p:blipFill>
          <a:blip r:embed="rId2"/>
          <a:stretch>
            <a:fillRect/>
          </a:stretch>
        </p:blipFill>
        <p:spPr>
          <a:xfrm>
            <a:off x="132325" y="2648681"/>
            <a:ext cx="7009620" cy="3598863"/>
          </a:xfrm>
        </p:spPr>
      </p:pic>
      <p:sp>
        <p:nvSpPr>
          <p:cNvPr id="3" name="TextBox 2">
            <a:extLst>
              <a:ext uri="{FF2B5EF4-FFF2-40B4-BE49-F238E27FC236}">
                <a16:creationId xmlns:a16="http://schemas.microsoft.com/office/drawing/2014/main" id="{72FA6834-9595-DD01-18B5-972066A75040}"/>
              </a:ext>
            </a:extLst>
          </p:cNvPr>
          <p:cNvSpPr txBox="1"/>
          <p:nvPr/>
        </p:nvSpPr>
        <p:spPr>
          <a:xfrm>
            <a:off x="132325" y="2040556"/>
            <a:ext cx="9666187" cy="369332"/>
          </a:xfrm>
          <a:prstGeom prst="rect">
            <a:avLst/>
          </a:prstGeom>
          <a:noFill/>
        </p:spPr>
        <p:txBody>
          <a:bodyPr wrap="square" rtlCol="0">
            <a:spAutoFit/>
          </a:bodyPr>
          <a:lstStyle/>
          <a:p>
            <a:r>
              <a:rPr lang="en-US" dirty="0"/>
              <a:t>Once we commit the changes in SAS studio, your </a:t>
            </a:r>
            <a:r>
              <a:rPr lang="en-US" dirty="0" err="1"/>
              <a:t>Github</a:t>
            </a:r>
            <a:r>
              <a:rPr lang="en-US" dirty="0"/>
              <a:t> Fork  Session gets updated :</a:t>
            </a:r>
          </a:p>
        </p:txBody>
      </p:sp>
    </p:spTree>
    <p:extLst>
      <p:ext uri="{BB962C8B-B14F-4D97-AF65-F5344CB8AC3E}">
        <p14:creationId xmlns:p14="http://schemas.microsoft.com/office/powerpoint/2010/main" val="477261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B01DD-5244-98DC-172C-F0D7364A7075}"/>
              </a:ext>
            </a:extLst>
          </p:cNvPr>
          <p:cNvSpPr>
            <a:spLocks noGrp="1"/>
          </p:cNvSpPr>
          <p:nvPr>
            <p:ph type="title"/>
          </p:nvPr>
        </p:nvSpPr>
        <p:spPr/>
        <p:txBody>
          <a:bodyPr/>
          <a:lstStyle/>
          <a:p>
            <a:r>
              <a:rPr lang="en-US" dirty="0"/>
              <a:t>Version control :Main Purpose of </a:t>
            </a:r>
            <a:r>
              <a:rPr lang="en-US" dirty="0" err="1"/>
              <a:t>GITHub</a:t>
            </a:r>
            <a:endParaRPr lang="en-US" dirty="0"/>
          </a:p>
        </p:txBody>
      </p:sp>
      <p:sp>
        <p:nvSpPr>
          <p:cNvPr id="3" name="Content Placeholder 2">
            <a:extLst>
              <a:ext uri="{FF2B5EF4-FFF2-40B4-BE49-F238E27FC236}">
                <a16:creationId xmlns:a16="http://schemas.microsoft.com/office/drawing/2014/main" id="{3B0BE07F-4E4B-01EA-67BE-855562F24D1E}"/>
              </a:ext>
            </a:extLst>
          </p:cNvPr>
          <p:cNvSpPr>
            <a:spLocks noGrp="1"/>
          </p:cNvSpPr>
          <p:nvPr>
            <p:ph idx="1"/>
          </p:nvPr>
        </p:nvSpPr>
        <p:spPr>
          <a:xfrm>
            <a:off x="417443" y="2067338"/>
            <a:ext cx="9876739" cy="4790661"/>
          </a:xfrm>
        </p:spPr>
        <p:txBody>
          <a:bodyPr/>
          <a:lstStyle/>
          <a:p>
            <a:r>
              <a:rPr lang="en-US" dirty="0"/>
              <a:t>We can see the Version History in GITHUB under history </a:t>
            </a:r>
            <a:r>
              <a:rPr lang="en-US" dirty="0" err="1"/>
              <a:t>tab:</a:t>
            </a:r>
            <a:r>
              <a:rPr lang="en-US" b="0" i="0" dirty="0" err="1">
                <a:effectLst/>
              </a:rPr>
              <a:t>Navigate</a:t>
            </a:r>
            <a:r>
              <a:rPr lang="en-US" b="0" i="0" dirty="0">
                <a:effectLst/>
              </a:rPr>
              <a:t> to your repository on GitHub. You will see a "Commits" link or tab, usually near the file list. Clicking this will display a chronological list of all commits, showing the commit message, author, and timestamp for each change. You can click on individual commits to see the specific changes (diffs) made in that commit.</a:t>
            </a:r>
          </a:p>
          <a:p>
            <a:endParaRPr lang="en-US" dirty="0"/>
          </a:p>
        </p:txBody>
      </p:sp>
      <p:pic>
        <p:nvPicPr>
          <p:cNvPr id="8" name="Picture 7" descr="A screenshot of a computer&#10;&#10;Description automatically generated">
            <a:extLst>
              <a:ext uri="{FF2B5EF4-FFF2-40B4-BE49-F238E27FC236}">
                <a16:creationId xmlns:a16="http://schemas.microsoft.com/office/drawing/2014/main" id="{F2848851-094A-4C97-CF3C-872F0316909F}"/>
              </a:ext>
            </a:extLst>
          </p:cNvPr>
          <p:cNvPicPr>
            <a:picLocks noChangeAspect="1"/>
          </p:cNvPicPr>
          <p:nvPr/>
        </p:nvPicPr>
        <p:blipFill>
          <a:blip r:embed="rId2"/>
          <a:stretch>
            <a:fillRect/>
          </a:stretch>
        </p:blipFill>
        <p:spPr>
          <a:xfrm>
            <a:off x="680321" y="4093398"/>
            <a:ext cx="7946844" cy="3936340"/>
          </a:xfrm>
          <a:prstGeom prst="rect">
            <a:avLst/>
          </a:prstGeom>
        </p:spPr>
      </p:pic>
    </p:spTree>
    <p:extLst>
      <p:ext uri="{BB962C8B-B14F-4D97-AF65-F5344CB8AC3E}">
        <p14:creationId xmlns:p14="http://schemas.microsoft.com/office/powerpoint/2010/main" val="3480538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77521-FC43-12CF-DEFA-39804E459D88}"/>
              </a:ext>
            </a:extLst>
          </p:cNvPr>
          <p:cNvSpPr>
            <a:spLocks noGrp="1"/>
          </p:cNvSpPr>
          <p:nvPr>
            <p:ph type="title"/>
          </p:nvPr>
        </p:nvSpPr>
        <p:spPr/>
        <p:txBody>
          <a:bodyPr/>
          <a:lstStyle/>
          <a:p>
            <a:r>
              <a:rPr lang="en-US" dirty="0"/>
              <a:t>Continued</a:t>
            </a:r>
          </a:p>
        </p:txBody>
      </p:sp>
      <p:pic>
        <p:nvPicPr>
          <p:cNvPr id="5" name="Content Placeholder 4" descr="A screenshot of a computer&#10;&#10;Description automatically generated">
            <a:extLst>
              <a:ext uri="{FF2B5EF4-FFF2-40B4-BE49-F238E27FC236}">
                <a16:creationId xmlns:a16="http://schemas.microsoft.com/office/drawing/2014/main" id="{E8FE1BA5-A546-2315-50C3-BAA3EEC2BE6B}"/>
              </a:ext>
            </a:extLst>
          </p:cNvPr>
          <p:cNvPicPr>
            <a:picLocks noGrp="1" noChangeAspect="1"/>
          </p:cNvPicPr>
          <p:nvPr>
            <p:ph idx="1"/>
          </p:nvPr>
        </p:nvPicPr>
        <p:blipFill>
          <a:blip r:embed="rId2"/>
          <a:stretch>
            <a:fillRect/>
          </a:stretch>
        </p:blipFill>
        <p:spPr>
          <a:xfrm>
            <a:off x="377687" y="2054653"/>
            <a:ext cx="10296939" cy="4298454"/>
          </a:xfrm>
        </p:spPr>
      </p:pic>
    </p:spTree>
    <p:extLst>
      <p:ext uri="{BB962C8B-B14F-4D97-AF65-F5344CB8AC3E}">
        <p14:creationId xmlns:p14="http://schemas.microsoft.com/office/powerpoint/2010/main" val="475658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8ED9C-1A83-0E52-0366-6F06AD1EDDAB}"/>
              </a:ext>
            </a:extLst>
          </p:cNvPr>
          <p:cNvSpPr>
            <a:spLocks noGrp="1"/>
          </p:cNvSpPr>
          <p:nvPr>
            <p:ph type="title"/>
          </p:nvPr>
        </p:nvSpPr>
        <p:spPr/>
        <p:txBody>
          <a:bodyPr/>
          <a:lstStyle/>
          <a:p>
            <a:r>
              <a:rPr lang="en-US" dirty="0"/>
              <a:t>SAS code to GITHUB</a:t>
            </a:r>
          </a:p>
        </p:txBody>
      </p:sp>
      <p:sp>
        <p:nvSpPr>
          <p:cNvPr id="3" name="Content Placeholder 2">
            <a:extLst>
              <a:ext uri="{FF2B5EF4-FFF2-40B4-BE49-F238E27FC236}">
                <a16:creationId xmlns:a16="http://schemas.microsoft.com/office/drawing/2014/main" id="{7227C0CC-A3F6-50C0-66E8-E6B61DDE6674}"/>
              </a:ext>
            </a:extLst>
          </p:cNvPr>
          <p:cNvSpPr>
            <a:spLocks noGrp="1"/>
          </p:cNvSpPr>
          <p:nvPr>
            <p:ph idx="1"/>
          </p:nvPr>
        </p:nvSpPr>
        <p:spPr/>
        <p:txBody>
          <a:bodyPr>
            <a:normAutofit fontScale="92500"/>
          </a:bodyPr>
          <a:lstStyle/>
          <a:p>
            <a:r>
              <a:rPr lang="en-US" dirty="0"/>
              <a:t>The </a:t>
            </a:r>
            <a:r>
              <a:rPr lang="en-US" dirty="0" err="1"/>
              <a:t>sas</a:t>
            </a:r>
            <a:r>
              <a:rPr lang="en-US" dirty="0"/>
              <a:t> code which are programmed by you in SAS studio can be move to GITHUB.</a:t>
            </a:r>
          </a:p>
          <a:p>
            <a:r>
              <a:rPr lang="en-US" dirty="0"/>
              <a:t>Follow the slide 5 to 10 FOR step by step process</a:t>
            </a:r>
          </a:p>
          <a:p>
            <a:r>
              <a:rPr lang="en-US" dirty="0"/>
              <a:t>First process/procedure :</a:t>
            </a:r>
            <a:r>
              <a:rPr lang="en-US" dirty="0" err="1"/>
              <a:t>Github</a:t>
            </a:r>
            <a:r>
              <a:rPr lang="en-US" dirty="0"/>
              <a:t> profile, create repository in </a:t>
            </a:r>
            <a:r>
              <a:rPr lang="en-US" dirty="0" err="1"/>
              <a:t>Github</a:t>
            </a:r>
            <a:r>
              <a:rPr lang="en-US" dirty="0"/>
              <a:t> </a:t>
            </a:r>
          </a:p>
          <a:p>
            <a:r>
              <a:rPr lang="en-US" dirty="0"/>
              <a:t>Second process/Procedure: Clone the </a:t>
            </a:r>
            <a:r>
              <a:rPr lang="en-US" dirty="0" err="1"/>
              <a:t>github</a:t>
            </a:r>
            <a:r>
              <a:rPr lang="en-US" dirty="0"/>
              <a:t> repository to </a:t>
            </a:r>
            <a:r>
              <a:rPr lang="en-US" dirty="0" err="1"/>
              <a:t>sas</a:t>
            </a:r>
            <a:r>
              <a:rPr lang="en-US" dirty="0"/>
              <a:t> studio</a:t>
            </a:r>
          </a:p>
          <a:p>
            <a:r>
              <a:rPr lang="en-US" dirty="0"/>
              <a:t>Third process/Procedure: Build your own code , with data steps and proc steps and upload that to </a:t>
            </a:r>
            <a:r>
              <a:rPr lang="en-US" dirty="0" err="1"/>
              <a:t>Github</a:t>
            </a:r>
            <a:r>
              <a:rPr lang="en-US" dirty="0"/>
              <a:t> by commit in </a:t>
            </a:r>
            <a:r>
              <a:rPr lang="en-US" dirty="0" err="1"/>
              <a:t>sas</a:t>
            </a:r>
            <a:r>
              <a:rPr lang="en-US" dirty="0"/>
              <a:t> studio</a:t>
            </a:r>
          </a:p>
          <a:p>
            <a:r>
              <a:rPr lang="en-US" dirty="0"/>
              <a:t>Follow the video from the references section for more details</a:t>
            </a:r>
          </a:p>
          <a:p>
            <a:pPr marL="0" indent="0">
              <a:buNone/>
            </a:pPr>
            <a:endParaRPr lang="en-US" dirty="0"/>
          </a:p>
        </p:txBody>
      </p:sp>
    </p:spTree>
    <p:extLst>
      <p:ext uri="{BB962C8B-B14F-4D97-AF65-F5344CB8AC3E}">
        <p14:creationId xmlns:p14="http://schemas.microsoft.com/office/powerpoint/2010/main" val="309650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17D14-B522-3448-37EC-F23505D6579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D8D10E7-47DB-7BE9-4664-76D6E899A701}"/>
              </a:ext>
            </a:extLst>
          </p:cNvPr>
          <p:cNvSpPr>
            <a:spLocks noGrp="1"/>
          </p:cNvSpPr>
          <p:nvPr>
            <p:ph idx="1"/>
          </p:nvPr>
        </p:nvSpPr>
        <p:spPr/>
        <p:txBody>
          <a:bodyPr/>
          <a:lstStyle/>
          <a:p>
            <a:r>
              <a:rPr lang="en-US" dirty="0">
                <a:hlinkClick r:id="rId2"/>
              </a:rPr>
              <a:t>https://www.youtube.com/watch?app=desktop&amp;v=sRmmht9nksY</a:t>
            </a:r>
            <a:endParaRPr lang="en-US" dirty="0"/>
          </a:p>
          <a:p>
            <a:r>
              <a:rPr lang="en-US" dirty="0">
                <a:hlinkClick r:id="rId3"/>
              </a:rPr>
              <a:t>https://documentation.sas.com/doc/en/egug/8.3/p078cl08fol7hkn11a8nf1f9izq7.htm</a:t>
            </a:r>
            <a:endParaRPr lang="en-US" dirty="0"/>
          </a:p>
          <a:p>
            <a:r>
              <a:rPr lang="en-US" dirty="0"/>
              <a:t>https://</a:t>
            </a:r>
            <a:r>
              <a:rPr lang="en-US" dirty="0" err="1"/>
              <a:t>www.lexjansen.com</a:t>
            </a:r>
            <a:r>
              <a:rPr lang="en-US" dirty="0"/>
              <a:t>/</a:t>
            </a:r>
            <a:r>
              <a:rPr lang="en-US" dirty="0" err="1"/>
              <a:t>phuse</a:t>
            </a:r>
            <a:r>
              <a:rPr lang="en-US" dirty="0"/>
              <a:t>/2019/</a:t>
            </a:r>
            <a:r>
              <a:rPr lang="en-US" dirty="0" err="1"/>
              <a:t>ct</a:t>
            </a:r>
            <a:r>
              <a:rPr lang="en-US" dirty="0"/>
              <a:t>/CT11.pdf</a:t>
            </a:r>
          </a:p>
        </p:txBody>
      </p:sp>
    </p:spTree>
    <p:extLst>
      <p:ext uri="{BB962C8B-B14F-4D97-AF65-F5344CB8AC3E}">
        <p14:creationId xmlns:p14="http://schemas.microsoft.com/office/powerpoint/2010/main" val="3967643277"/>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Berlin</Template>
  <TotalTime>787</TotalTime>
  <Words>830</Words>
  <Application>Microsoft Macintosh PowerPoint</Application>
  <PresentationFormat>Widescreen</PresentationFormat>
  <Paragraphs>63</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Trebuchet MS</vt:lpstr>
      <vt:lpstr>Berlin</vt:lpstr>
      <vt:lpstr>GIT HUB</vt:lpstr>
      <vt:lpstr>WHAT is GITHUB</vt:lpstr>
      <vt:lpstr>WHY GITHUB</vt:lpstr>
      <vt:lpstr>HOW to Implement</vt:lpstr>
      <vt:lpstr>SAS STUDIO GIT REPOSITORY</vt:lpstr>
      <vt:lpstr>CREATION OF SSHKEY A BRIDGE FOR SAS AND GITHUB SITE</vt:lpstr>
      <vt:lpstr>Linking GITHUB REPOSITORY TO SAS STUDIO</vt:lpstr>
      <vt:lpstr>Connecting GITHUB TO SAS STUDIO</vt:lpstr>
      <vt:lpstr>CLONE  A REPOSITORY Meaning getting all github program to SAS STUDIO </vt:lpstr>
      <vt:lpstr>CONTINUED</vt:lpstr>
      <vt:lpstr>Github repository (programs ) copied or colned over</vt:lpstr>
      <vt:lpstr>PRINT.SAS PROGRAM IS BEEN UPDATED ON SAS STUDIO </vt:lpstr>
      <vt:lpstr>PRINT.SAS program updated on sas studio</vt:lpstr>
      <vt:lpstr>COMMIT</vt:lpstr>
      <vt:lpstr>Continued:</vt:lpstr>
      <vt:lpstr>SEE THE CHANGES IN GIT HUB SINCE IT IS BRIDGED USING SSHKEY</vt:lpstr>
      <vt:lpstr>Version control :Main Purpose of GITHub</vt:lpstr>
      <vt:lpstr>Continued</vt:lpstr>
      <vt:lpstr>SAS code to GITHUB</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aishwarya rajan</dc:creator>
  <cp:lastModifiedBy>aishwarya rajan</cp:lastModifiedBy>
  <cp:revision>6</cp:revision>
  <dcterms:created xsi:type="dcterms:W3CDTF">2025-10-14T14:38:10Z</dcterms:created>
  <dcterms:modified xsi:type="dcterms:W3CDTF">2025-10-19T15:06:01Z</dcterms:modified>
</cp:coreProperties>
</file>